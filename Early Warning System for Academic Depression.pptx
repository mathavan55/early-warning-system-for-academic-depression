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2" r:id="rId9"/>
    <p:sldId id="263" r:id="rId10"/>
    <p:sldId id="264" r:id="rId11"/>
    <p:sldId id="265" r:id="rId12"/>
    <p:sldId id="266" r:id="rId13"/>
    <p:sldId id="269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>
        <p:scale>
          <a:sx n="75" d="100"/>
          <a:sy n="75" d="100"/>
        </p:scale>
        <p:origin x="97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45263-734F-6C7C-27F4-812AED7F01E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A699133-29BD-0F3E-FB59-B8AE0AFA7E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FA5ACA-4AE6-A634-DC47-3EFDDC297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04E39-29D3-4098-B6E7-1DBD69E6EC6A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7B9ABC-C938-5C38-1D52-AD723A805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C9CB8-FC18-DE13-EDDE-A4C81454E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9277-7B91-4FC4-A329-46E35A621E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4318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AD7E40-0D77-87C2-FD89-AB79690854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7C906-49C9-14F6-9606-ACC129C59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076EF9-3FA0-9ADB-6984-2D1B1D6E4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04E39-29D3-4098-B6E7-1DBD69E6EC6A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27A2A6-F1B4-7499-DA23-C1D14120E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52DC2-35A9-6D0C-1F53-9971A52D79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9277-7B91-4FC4-A329-46E35A621E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968215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26E38-CC52-9725-378B-461579926C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C7B36C-E5FF-36FC-989D-A3B2A0D0E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CBB682-CF5F-494C-4CE5-7B9D3A030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04E39-29D3-4098-B6E7-1DBD69E6EC6A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44B64-FA01-4130-A35B-01AAC0A8CB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1EE958-6524-58DE-BF04-6BDC33DA94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9277-7B91-4FC4-A329-46E35A621E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60419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A0059-06DF-7474-7B2C-BDC6E0DB0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F978AD-58CF-59FC-97F8-6049542B34B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468542-8013-9CB1-013B-74864C5464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A4B95F-9905-CCD5-1C34-9488255347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04E39-29D3-4098-B6E7-1DBD69E6EC6A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D2A638-882A-5F41-24A6-2232E966E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41C5F4-6955-0749-F7B7-85E11DF791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9277-7B91-4FC4-A329-46E35A621E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985103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5E712A-0DD8-29F6-FC04-D773C927A5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B41E34-F1E6-40D2-E93C-765B3ED3D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B83411-B41C-93E6-4CB6-4F3202D50A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AEC3B8-DF0B-0726-AEFE-9184A38268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A2F8D75-BE17-2F2A-FD27-6B3BADC5CE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60EAFA-D44F-04F3-C4DB-FA4AFAEB6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04E39-29D3-4098-B6E7-1DBD69E6EC6A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DB15136-1A47-88F6-FE4A-086BECAB5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BC94AA-B7C4-210C-C95B-2045A89F3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9277-7B91-4FC4-A329-46E35A621E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879030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4DC99-FC0C-8583-D7C6-4BB3E3304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6113965-28B4-8C0C-441C-6979D503E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04E39-29D3-4098-B6E7-1DBD69E6EC6A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9A0AD1-DB0B-EC38-B6A3-C66CBF7BB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092F63-0693-CF9D-2218-C74693CF2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9277-7B91-4FC4-A329-46E35A621E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932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5EBA23E-7E21-8D80-1438-388D28573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04E39-29D3-4098-B6E7-1DBD69E6EC6A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37EDAEA-63D0-BA0C-72E9-5C3236B63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D85E80-5912-1D9A-B1C0-6806E94F5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9277-7B91-4FC4-A329-46E35A621E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97470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DC328F-F0B1-B474-D6FF-1BE531380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AC545E-D7BE-A2BF-A435-EB44298116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B1144D-FEF4-FF3C-187C-03961AE263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7D3D68-263C-9584-9651-9A29663954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04E39-29D3-4098-B6E7-1DBD69E6EC6A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BCAE3D-0ACA-B02F-5E87-1B8BFC436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A7CE1E-7CA2-5B3F-E15E-72B6CA0F8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9277-7B91-4FC4-A329-46E35A621E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17617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15867C-3788-DF3D-2224-D680980D3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2862019-E23E-FB85-AB52-D5B2C5D259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F27FDA-6BA2-A077-31E6-CA9C32F3F7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922909-B6B5-9A83-7731-4E92BC9F3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04E39-29D3-4098-B6E7-1DBD69E6EC6A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FB2ACC-728B-C7D0-A71E-D7445FCBFF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3B9BA3-3D4F-2558-CD3B-16B740953E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9277-7B91-4FC4-A329-46E35A621E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8137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C1431-2187-AD54-4108-A6C1E1BFF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35B3F6-31E1-53CC-FF64-BE5675F18C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8C938B-276A-6E55-8004-8E931E1C63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04E39-29D3-4098-B6E7-1DBD69E6EC6A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37090-CB49-F52D-6F4D-6C73AD7E58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315DCB-D82A-07D6-E2F2-2A9471183D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9277-7B91-4FC4-A329-46E35A621E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202542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46C7DC-D5A4-C7C8-1035-C46712D4E8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2BCE62F-15B6-0114-A680-80172602DA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EDDED-5E44-B3A8-D36F-150FEDEF4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E04E39-29D3-4098-B6E7-1DBD69E6EC6A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9C05CC-20B0-2D91-79EF-33AB55D01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D65EB-E5A5-4773-7A82-C7FA78989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2E9277-7B91-4FC4-A329-46E35A621E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54938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D7D3F79-01D5-1A77-C936-0A1982745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0EF6D3-1964-64D6-9788-BF7EEB06D9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599997-6630-86C3-9CCA-8A759F084B8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E04E39-29D3-4098-B6E7-1DBD69E6EC6A}" type="datetimeFigureOut">
              <a:rPr lang="en-IN" smtClean="0"/>
              <a:t>12-06-2026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3708A-279E-BD4F-6003-84D8DB65E1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EA36FF-2210-4EF0-1EBA-55222F9411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2E9277-7B91-4FC4-A329-46E35A621EB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373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03F68-F0F7-65DE-23E8-4880DF8836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16311"/>
            <a:ext cx="9144000" cy="1160205"/>
          </a:xfrm>
        </p:spPr>
        <p:txBody>
          <a:bodyPr>
            <a:normAutofit/>
          </a:bodyPr>
          <a:lstStyle/>
          <a:p>
            <a:r>
              <a:rPr lang="en-US" sz="3200" dirty="0"/>
              <a:t>Early Warning System for Academic Depression Using Data Science &amp; Analytics</a:t>
            </a:r>
            <a:endParaRPr lang="en-IN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A7A493F-770D-539D-757E-CFED4BCA5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Presented By:    -    [Student Name 1]                                                     </a:t>
            </a:r>
          </a:p>
          <a:p>
            <a:r>
              <a:rPr lang="en-IN" dirty="0"/>
              <a:t>                                        [Student Name 2]</a:t>
            </a:r>
          </a:p>
          <a:p>
            <a:r>
              <a:rPr lang="en-IN" dirty="0"/>
              <a:t>                                         [Student Name 3]</a:t>
            </a:r>
          </a:p>
        </p:txBody>
      </p:sp>
    </p:spTree>
    <p:extLst>
      <p:ext uri="{BB962C8B-B14F-4D97-AF65-F5344CB8AC3E}">
        <p14:creationId xmlns:p14="http://schemas.microsoft.com/office/powerpoint/2010/main" val="15135681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3E9CC-BA4E-6460-AB0E-8839418F39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73740"/>
          </a:xfrm>
        </p:spPr>
        <p:txBody>
          <a:bodyPr>
            <a:normAutofit fontScale="90000"/>
          </a:bodyPr>
          <a:lstStyle/>
          <a:p>
            <a:r>
              <a:rPr lang="en-US" sz="2400" dirty="0"/>
              <a:t>CORE COMPETENCIES LEARNED DURING INTERNSHIP :</a:t>
            </a:r>
            <a:br>
              <a:rPr lang="en-US" sz="2400" dirty="0"/>
            </a:br>
            <a:r>
              <a:rPr lang="en-US" sz="2400" dirty="0"/>
              <a:t>                </a:t>
            </a:r>
            <a:br>
              <a:rPr lang="en-US" sz="2400" dirty="0"/>
            </a:br>
            <a:r>
              <a:rPr lang="en-US" sz="2400" dirty="0"/>
              <a:t>             Microsoft Excel   </a:t>
            </a:r>
            <a:br>
              <a:rPr lang="en-US" sz="2400" dirty="0"/>
            </a:br>
            <a:endParaRPr lang="en-IN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8DD27-4C6B-B898-A137-D81629929D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25677"/>
            <a:ext cx="10515600" cy="4839776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r>
              <a:rPr lang="en-US" sz="2000" dirty="0"/>
              <a:t>Data cleaning, raw behavioral dataset preprocessing, and pivot table analysis.</a:t>
            </a:r>
          </a:p>
          <a:p>
            <a:pPr lvl="1"/>
            <a:endParaRPr lang="en-US" sz="2000" dirty="0"/>
          </a:p>
          <a:p>
            <a:pPr lvl="2"/>
            <a:r>
              <a:rPr lang="en-IN" dirty="0"/>
              <a:t>Cleaned and organized raw student data. </a:t>
            </a:r>
          </a:p>
          <a:p>
            <a:pPr lvl="2"/>
            <a:r>
              <a:rPr lang="en-IN" dirty="0"/>
              <a:t>Removed duplicate and missing values.</a:t>
            </a:r>
          </a:p>
          <a:p>
            <a:pPr lvl="2"/>
            <a:r>
              <a:rPr lang="en-IN" dirty="0"/>
              <a:t> Applied formulas for data validation and calculations. </a:t>
            </a:r>
          </a:p>
          <a:p>
            <a:pPr lvl="3"/>
            <a:r>
              <a:rPr lang="en-IN" sz="2000" b="1" dirty="0"/>
              <a:t>Formulas:</a:t>
            </a:r>
            <a:r>
              <a:rPr lang="en-IN" sz="2000" dirty="0"/>
              <a:t> IF(), COUNTIF(), SUM().</a:t>
            </a:r>
          </a:p>
          <a:p>
            <a:pPr lvl="2"/>
            <a:r>
              <a:rPr lang="en-IN" dirty="0"/>
              <a:t>Created Pivot Tables to summarize key trends. </a:t>
            </a:r>
          </a:p>
          <a:p>
            <a:pPr lvl="2"/>
            <a:endParaRPr lang="en-IN" dirty="0"/>
          </a:p>
          <a:p>
            <a:pPr marL="914400" lvl="2" indent="0">
              <a:buNone/>
            </a:pPr>
            <a:endParaRPr lang="en-IN" dirty="0"/>
          </a:p>
          <a:p>
            <a:pPr lvl="2"/>
            <a:endParaRPr lang="en-IN" dirty="0"/>
          </a:p>
          <a:p>
            <a:pPr marL="914400" lvl="2" indent="0">
              <a:buNone/>
            </a:pPr>
            <a:endParaRPr lang="en-IN" dirty="0"/>
          </a:p>
          <a:p>
            <a:pPr lvl="2"/>
            <a:endParaRPr lang="en-IN" dirty="0"/>
          </a:p>
          <a:p>
            <a:pPr lvl="2"/>
            <a:r>
              <a:rPr lang="en-IN" dirty="0"/>
              <a:t>Prepared the dataset for Power BI analysis.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D01766-BA98-F363-5582-32E60C2F57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5706" y="4002377"/>
            <a:ext cx="1996613" cy="10440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DFF60A0-8121-8045-8662-54C3980E1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92547"/>
            <a:ext cx="678425" cy="646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1094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9BE97-63DE-26EE-2922-13942BAFD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16310"/>
            <a:ext cx="10515600" cy="816077"/>
          </a:xfrm>
        </p:spPr>
        <p:txBody>
          <a:bodyPr/>
          <a:lstStyle/>
          <a:p>
            <a:r>
              <a:rPr lang="en-US" dirty="0"/>
              <a:t>        </a:t>
            </a:r>
            <a:r>
              <a:rPr lang="en-US" sz="2800" dirty="0"/>
              <a:t>Structured Query Language (SQL) : MYSQL</a:t>
            </a:r>
            <a:endParaRPr lang="en-IN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42E338-3E3D-7627-24EA-0BE12AEBAD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8529"/>
            <a:ext cx="10515600" cy="4918434"/>
          </a:xfrm>
        </p:spPr>
        <p:txBody>
          <a:bodyPr/>
          <a:lstStyle/>
          <a:p>
            <a:pPr marL="457200" lvl="1" indent="0">
              <a:buNone/>
            </a:pPr>
            <a:r>
              <a:rPr lang="en-US" sz="1600" dirty="0"/>
              <a:t>                             -      </a:t>
            </a:r>
            <a:r>
              <a:rPr lang="en-US" sz="2000" dirty="0"/>
              <a:t>Efficiently querying and extracting historical academic records from institutional relational databases.</a:t>
            </a:r>
          </a:p>
          <a:p>
            <a:pPr marL="457200" lvl="1" indent="0">
              <a:buNone/>
            </a:pPr>
            <a:endParaRPr lang="en-US" sz="2000" dirty="0"/>
          </a:p>
          <a:p>
            <a:pPr lvl="1"/>
            <a:r>
              <a:rPr lang="en-IN" sz="1800" dirty="0"/>
              <a:t>Stored and managed student </a:t>
            </a:r>
            <a:r>
              <a:rPr lang="en-IN" sz="1800" dirty="0" err="1"/>
              <a:t>behavioral</a:t>
            </a:r>
            <a:r>
              <a:rPr lang="en-IN" sz="1800" dirty="0"/>
              <a:t> data in relational databases. </a:t>
            </a:r>
          </a:p>
          <a:p>
            <a:pPr lvl="2"/>
            <a:r>
              <a:rPr lang="en-IN" sz="1800" dirty="0"/>
              <a:t>Eg : CREATE DATABASE, CREATE TABLE</a:t>
            </a:r>
          </a:p>
          <a:p>
            <a:pPr lvl="1"/>
            <a:r>
              <a:rPr lang="en-IN" sz="1800" dirty="0"/>
              <a:t>Queried academic records using SQL statements. </a:t>
            </a:r>
          </a:p>
          <a:p>
            <a:pPr lvl="2"/>
            <a:r>
              <a:rPr lang="en-IN" sz="1800" dirty="0"/>
              <a:t>Eg : SELECT</a:t>
            </a:r>
          </a:p>
          <a:p>
            <a:pPr lvl="1"/>
            <a:r>
              <a:rPr lang="en-IN" sz="1800" dirty="0"/>
              <a:t>Retrieved and filtered data for analytical reporting. </a:t>
            </a:r>
          </a:p>
          <a:p>
            <a:pPr lvl="2"/>
            <a:r>
              <a:rPr lang="en-IN" sz="1800" dirty="0"/>
              <a:t>Eg : WHERE, ORDER BY</a:t>
            </a:r>
          </a:p>
          <a:p>
            <a:pPr lvl="1"/>
            <a:r>
              <a:rPr lang="en-IN" sz="1800" dirty="0"/>
              <a:t>Used JOIN operations to combine data from multiple tables.</a:t>
            </a:r>
          </a:p>
          <a:p>
            <a:pPr lvl="2"/>
            <a:r>
              <a:rPr lang="en-IN" sz="1800" dirty="0"/>
              <a:t>Eg : INNER JOIN, LEFT JOIN</a:t>
            </a:r>
          </a:p>
          <a:p>
            <a:pPr lvl="1"/>
            <a:r>
              <a:rPr lang="en-IN" sz="1800" dirty="0"/>
              <a:t> Applied aggregation functions for summary analysis. </a:t>
            </a:r>
          </a:p>
          <a:p>
            <a:pPr lvl="2"/>
            <a:r>
              <a:rPr lang="en-IN" sz="1800" dirty="0"/>
              <a:t>Eg : COUNT(), AVG(), SUM(), MAX()</a:t>
            </a:r>
          </a:p>
          <a:p>
            <a:pPr lvl="1"/>
            <a:r>
              <a:rPr lang="en-IN" sz="1800" dirty="0"/>
              <a:t>Extracted structured datasets for Power BI visualization.</a:t>
            </a:r>
          </a:p>
          <a:p>
            <a:pPr lvl="2"/>
            <a:r>
              <a:rPr lang="en-IN" sz="1800" dirty="0"/>
              <a:t>Eg : SELECT INTO, EXPORT, 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9D7F74F-BB74-ECFE-A34E-4EB6D626B7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792" y="262463"/>
            <a:ext cx="1326821" cy="837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74478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B7174-7226-128B-470F-7364C91882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00114"/>
          </a:xfrm>
        </p:spPr>
        <p:txBody>
          <a:bodyPr>
            <a:normAutofit fontScale="90000"/>
          </a:bodyPr>
          <a:lstStyle/>
          <a:p>
            <a:r>
              <a:rPr lang="en-US" dirty="0"/>
              <a:t>           Python Programming :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276521-0DA0-3C19-E27C-24BD2A6056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99535"/>
            <a:ext cx="10515600" cy="49774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                        -   Using libraries like Pandas, NumPy, and Scikit-Learn to build, train, and validate machine learning models like KNN ,Decision tree,  Linear regression.</a:t>
            </a:r>
          </a:p>
          <a:p>
            <a:pPr marL="0" indent="0">
              <a:buNone/>
            </a:pPr>
            <a:endParaRPr lang="en-US" sz="2000" dirty="0"/>
          </a:p>
          <a:p>
            <a:pPr lvl="1"/>
            <a:r>
              <a:rPr lang="en-IN" sz="1900" dirty="0"/>
              <a:t>Data Manipulation and Preprocessing – Pandas </a:t>
            </a:r>
          </a:p>
          <a:p>
            <a:pPr lvl="2"/>
            <a:r>
              <a:rPr lang="en-IN" sz="1900" dirty="0"/>
              <a:t>(</a:t>
            </a:r>
            <a:r>
              <a:rPr lang="en-IN" sz="1900" dirty="0" err="1"/>
              <a:t>DataFrame</a:t>
            </a:r>
            <a:r>
              <a:rPr lang="en-IN" sz="1900" dirty="0"/>
              <a:t>, </a:t>
            </a:r>
            <a:r>
              <a:rPr lang="en-IN" sz="1900" dirty="0" err="1"/>
              <a:t>read_csv</a:t>
            </a:r>
            <a:r>
              <a:rPr lang="en-IN" sz="1900" dirty="0"/>
              <a:t>()) </a:t>
            </a:r>
          </a:p>
          <a:p>
            <a:pPr lvl="1"/>
            <a:r>
              <a:rPr lang="en-IN" sz="1900" dirty="0"/>
              <a:t>Numerical Computation and Analysis – NumPy</a:t>
            </a:r>
          </a:p>
          <a:p>
            <a:pPr lvl="2"/>
            <a:r>
              <a:rPr lang="en-IN" sz="1900" dirty="0"/>
              <a:t> (array, mean(), reshape()) </a:t>
            </a:r>
          </a:p>
          <a:p>
            <a:pPr lvl="1"/>
            <a:r>
              <a:rPr lang="en-IN" sz="1900" dirty="0"/>
              <a:t>Data Visualization and Exploration – Matplotlib, Seaborn </a:t>
            </a:r>
          </a:p>
          <a:p>
            <a:pPr lvl="2"/>
            <a:r>
              <a:rPr lang="en-IN" sz="1900" dirty="0"/>
              <a:t>Pie </a:t>
            </a:r>
            <a:r>
              <a:rPr lang="en-IN" sz="1900" dirty="0" err="1"/>
              <a:t>chart,Barchat,etc</a:t>
            </a:r>
            <a:r>
              <a:rPr lang="en-IN" sz="1900" dirty="0"/>
              <a:t>,.</a:t>
            </a:r>
          </a:p>
          <a:p>
            <a:pPr lvl="1"/>
            <a:r>
              <a:rPr lang="en-IN" sz="1900" dirty="0"/>
              <a:t>Model Development and Training – Scikit-Learn </a:t>
            </a:r>
          </a:p>
          <a:p>
            <a:pPr lvl="2"/>
            <a:r>
              <a:rPr lang="en-IN" sz="1900" dirty="0"/>
              <a:t>(fit(), predict()) </a:t>
            </a:r>
          </a:p>
          <a:p>
            <a:pPr lvl="1"/>
            <a:r>
              <a:rPr lang="en-IN" sz="1900" dirty="0"/>
              <a:t>Machine Learning Algorithms </a:t>
            </a:r>
          </a:p>
          <a:p>
            <a:pPr lvl="2"/>
            <a:r>
              <a:rPr lang="en-IN" sz="1900" dirty="0"/>
              <a:t>KNN, Decision Tree, Linear Regression </a:t>
            </a:r>
          </a:p>
          <a:p>
            <a:pPr lvl="1"/>
            <a:r>
              <a:rPr lang="en-IN" sz="1900" dirty="0"/>
              <a:t>Model Evaluation and Validation </a:t>
            </a:r>
          </a:p>
          <a:p>
            <a:pPr lvl="1"/>
            <a:r>
              <a:rPr lang="en-IN" sz="1900" dirty="0"/>
              <a:t> 	</a:t>
            </a:r>
            <a:r>
              <a:rPr lang="en-IN" sz="1900" dirty="0" err="1"/>
              <a:t>train_test_split</a:t>
            </a:r>
            <a:r>
              <a:rPr lang="en-IN" sz="1900" dirty="0"/>
              <a:t>(), </a:t>
            </a:r>
            <a:r>
              <a:rPr lang="en-IN" sz="1900" dirty="0" err="1"/>
              <a:t>accuracy_score</a:t>
            </a:r>
            <a:r>
              <a:rPr lang="en-IN" sz="1900" dirty="0"/>
              <a:t>(), </a:t>
            </a:r>
            <a:r>
              <a:rPr lang="en-IN" sz="1900" dirty="0" err="1"/>
              <a:t>confusion_matrix</a:t>
            </a:r>
            <a:r>
              <a:rPr lang="en-IN" sz="1900" dirty="0"/>
              <a:t>()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1D5B107-3BE2-A8ED-C625-2CD13B081BB1}"/>
              </a:ext>
            </a:extLst>
          </p:cNvPr>
          <p:cNvSpPr txBox="1"/>
          <p:nvPr/>
        </p:nvSpPr>
        <p:spPr>
          <a:xfrm>
            <a:off x="2502310" y="56072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endParaRPr lang="en-IN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7C77AA-7F7F-E5AE-ED8F-C5266965259D}"/>
              </a:ext>
            </a:extLst>
          </p:cNvPr>
          <p:cNvSpPr txBox="1"/>
          <p:nvPr/>
        </p:nvSpPr>
        <p:spPr>
          <a:xfrm>
            <a:off x="2654710" y="57596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endParaRPr lang="en-IN" sz="18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668DED-E623-472B-38DF-5FD83B5A3EC6}"/>
              </a:ext>
            </a:extLst>
          </p:cNvPr>
          <p:cNvSpPr txBox="1"/>
          <p:nvPr/>
        </p:nvSpPr>
        <p:spPr>
          <a:xfrm>
            <a:off x="2807110" y="59120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endParaRPr lang="en-IN" sz="18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FAEC9F5-A39C-760C-1200-645442DA0F89}"/>
              </a:ext>
            </a:extLst>
          </p:cNvPr>
          <p:cNvSpPr txBox="1"/>
          <p:nvPr/>
        </p:nvSpPr>
        <p:spPr>
          <a:xfrm>
            <a:off x="2959510" y="60644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endParaRPr lang="en-IN" sz="18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955332-6030-CD27-4190-E7F3BA02B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841" y="-126383"/>
            <a:ext cx="2297616" cy="1007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99117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36C6AF-6AF3-284F-BC2B-59FCE65024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18101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          Microsoft Power BI :</a:t>
            </a:r>
            <a:endParaRPr lang="en-IN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8507C0-7053-FE64-4847-204E865C15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76400" y="2103119"/>
            <a:ext cx="10515600" cy="407384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400" dirty="0"/>
          </a:p>
          <a:p>
            <a:r>
              <a:rPr lang="en-IN" sz="2000" dirty="0"/>
              <a:t>Imported and transformed data using Power Query.</a:t>
            </a:r>
            <a:br>
              <a:rPr lang="en-IN" sz="2000" dirty="0"/>
            </a:br>
            <a:r>
              <a:rPr lang="en-IN" sz="2000" dirty="0"/>
              <a:t>	</a:t>
            </a:r>
            <a:r>
              <a:rPr lang="en-IN" sz="1800" dirty="0"/>
              <a:t>Eg :</a:t>
            </a:r>
            <a:r>
              <a:rPr lang="en-IN" sz="1800" i="1" dirty="0"/>
              <a:t>(Data Cleaning, Remove Null Values)</a:t>
            </a:r>
          </a:p>
          <a:p>
            <a:r>
              <a:rPr lang="en-IN" sz="2000" dirty="0"/>
              <a:t> Created interactive visualizations for data analysis.</a:t>
            </a:r>
            <a:br>
              <a:rPr lang="en-IN" sz="2000" dirty="0"/>
            </a:br>
            <a:r>
              <a:rPr lang="en-IN" sz="2000" dirty="0"/>
              <a:t>	</a:t>
            </a:r>
            <a:r>
              <a:rPr lang="en-IN" sz="1800" dirty="0"/>
              <a:t>Eg :</a:t>
            </a:r>
            <a:r>
              <a:rPr lang="en-IN" sz="1800" i="1" dirty="0"/>
              <a:t>(Bar Chart, Donut Chart)</a:t>
            </a:r>
          </a:p>
          <a:p>
            <a:r>
              <a:rPr lang="en-IN" sz="2000" dirty="0"/>
              <a:t> Developed custom calculations using DAX measures.</a:t>
            </a:r>
            <a:br>
              <a:rPr lang="en-IN" sz="2000" dirty="0"/>
            </a:br>
            <a:r>
              <a:rPr lang="en-IN" sz="2000" dirty="0"/>
              <a:t>	</a:t>
            </a:r>
            <a:r>
              <a:rPr lang="en-IN" sz="1800" dirty="0"/>
              <a:t>Eg :</a:t>
            </a:r>
            <a:r>
              <a:rPr lang="en-IN" sz="1800" i="1" dirty="0"/>
              <a:t>(COUNT(), CALCULATE())</a:t>
            </a:r>
            <a:r>
              <a:rPr lang="en-IN" sz="1800" dirty="0"/>
              <a:t> </a:t>
            </a:r>
          </a:p>
          <a:p>
            <a:r>
              <a:rPr lang="en-IN" sz="2000" dirty="0"/>
              <a:t>Enabled dynamic filtering and user-driven analysis.</a:t>
            </a:r>
            <a:br>
              <a:rPr lang="en-IN" sz="2000" dirty="0"/>
            </a:br>
            <a:r>
              <a:rPr lang="en-IN" sz="2000" dirty="0"/>
              <a:t>	</a:t>
            </a:r>
            <a:r>
              <a:rPr lang="en-IN" sz="1800" dirty="0"/>
              <a:t>Eg :</a:t>
            </a:r>
            <a:r>
              <a:rPr lang="en-IN" sz="1800" i="1" dirty="0"/>
              <a:t>(Slicers, Cross-Filtering)</a:t>
            </a:r>
          </a:p>
          <a:p>
            <a:r>
              <a:rPr lang="en-IN" sz="2000" dirty="0"/>
              <a:t> Generated insights through dashboards and reports.</a:t>
            </a:r>
            <a:br>
              <a:rPr lang="en-IN" sz="2000" dirty="0"/>
            </a:br>
            <a:r>
              <a:rPr lang="en-IN" sz="2000" dirty="0"/>
              <a:t>	</a:t>
            </a:r>
            <a:r>
              <a:rPr lang="en-IN" sz="1800" dirty="0"/>
              <a:t>Eg :</a:t>
            </a:r>
            <a:r>
              <a:rPr lang="en-IN" sz="1800" i="1" dirty="0"/>
              <a:t>(KPI Cards, Interactive Dashboard)</a:t>
            </a:r>
            <a:endParaRPr lang="en-IN" sz="1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50E6CC-A1BF-8A1F-9976-391D0F0708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973" y="206398"/>
            <a:ext cx="914479" cy="91447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3512623-4849-D518-801C-19BE0250C1B6}"/>
              </a:ext>
            </a:extLst>
          </p:cNvPr>
          <p:cNvSpPr txBox="1"/>
          <p:nvPr/>
        </p:nvSpPr>
        <p:spPr>
          <a:xfrm>
            <a:off x="975360" y="1449991"/>
            <a:ext cx="101092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 - Transforming complex model outputs into interactive, real-time executive dashboards</a:t>
            </a:r>
            <a:r>
              <a:rPr lang="en-US" dirty="0"/>
              <a:t>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120768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9EBFD-0DD9-3642-23C0-2102ACDE17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71120"/>
            <a:ext cx="10515600" cy="491402"/>
          </a:xfrm>
        </p:spPr>
        <p:txBody>
          <a:bodyPr>
            <a:normAutofit/>
          </a:bodyPr>
          <a:lstStyle/>
          <a:p>
            <a:r>
              <a:rPr lang="en-IN" sz="2400" dirty="0" err="1"/>
              <a:t>Visualizatiion</a:t>
            </a:r>
            <a:r>
              <a:rPr lang="en-IN" sz="2400" dirty="0"/>
              <a:t> : Power BI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B7C8263-C1D0-7FB6-D233-855449C7C7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22680" y="660400"/>
            <a:ext cx="10231120" cy="599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03343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E4636-140B-C495-EF1E-B34B72E2D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8974" y="89823"/>
            <a:ext cx="8708923" cy="883572"/>
          </a:xfrm>
        </p:spPr>
        <p:txBody>
          <a:bodyPr>
            <a:noAutofit/>
          </a:bodyPr>
          <a:lstStyle/>
          <a:p>
            <a:pPr algn="ctr"/>
            <a:r>
              <a:rPr lang="en-US" sz="2400" dirty="0"/>
              <a:t>EARLY WARNING SYSTEM FOR ACADEMIC DEPRESSION USING DATA SCIENCE &amp; ANALYTICS</a:t>
            </a:r>
            <a:endParaRPr lang="en-IN" sz="2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1FEE75-97F2-B384-B961-5F4435EBA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7019"/>
            <a:ext cx="10515600" cy="4829944"/>
          </a:xfrm>
        </p:spPr>
        <p:txBody>
          <a:bodyPr/>
          <a:lstStyle/>
          <a:p>
            <a:r>
              <a:rPr lang="en-IN" dirty="0"/>
              <a:t>Project Description:</a:t>
            </a:r>
          </a:p>
          <a:p>
            <a:endParaRPr lang="en-IN" dirty="0"/>
          </a:p>
          <a:p>
            <a:pPr lvl="1"/>
            <a:r>
              <a:rPr lang="en-IN" dirty="0"/>
              <a:t>This project aims to identify students who are at risk of depression using Machine Learning and Data Analytics techniques. </a:t>
            </a:r>
          </a:p>
          <a:p>
            <a:pPr lvl="1"/>
            <a:r>
              <a:rPr lang="en-IN" dirty="0"/>
              <a:t>A K-Nearest Neighbours (KNN) model was developed using student academic, lifestyle, and mental health data to predict depression risk.</a:t>
            </a:r>
          </a:p>
          <a:p>
            <a:pPr lvl="1"/>
            <a:r>
              <a:rPr lang="en-IN" dirty="0"/>
              <a:t> An interactive Power BI dashboard was created to visualize key factors such as academic pressure, financial stress, sleep duration, dietary habits, and suicidal thoughts. </a:t>
            </a:r>
          </a:p>
          <a:p>
            <a:pPr lvl="1"/>
            <a:r>
              <a:rPr lang="en-IN" dirty="0"/>
              <a:t>The system helps educational institutions identify high-risk students and support early intervention.</a:t>
            </a:r>
          </a:p>
        </p:txBody>
      </p:sp>
    </p:spTree>
    <p:extLst>
      <p:ext uri="{BB962C8B-B14F-4D97-AF65-F5344CB8AC3E}">
        <p14:creationId xmlns:p14="http://schemas.microsoft.com/office/powerpoint/2010/main" val="526968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ABD06-4C4B-7A6D-6EAE-BEAD705AAF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519778"/>
          </a:xfrm>
        </p:spPr>
        <p:txBody>
          <a:bodyPr>
            <a:normAutofit/>
          </a:bodyPr>
          <a:lstStyle/>
          <a:p>
            <a:r>
              <a:rPr lang="en-IN" sz="2400" dirty="0"/>
              <a:t>Data cleaning Process 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C9BD6B8-AA4F-024B-1D3E-BC5C62C083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31491" y="1053382"/>
            <a:ext cx="10010968" cy="4919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83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378618-DEFD-F2C2-BDE6-B9DB16FAB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085"/>
            <a:ext cx="10515600" cy="450952"/>
          </a:xfrm>
        </p:spPr>
        <p:txBody>
          <a:bodyPr>
            <a:normAutofit/>
          </a:bodyPr>
          <a:lstStyle/>
          <a:p>
            <a:r>
              <a:rPr lang="en-IN" sz="2400" dirty="0"/>
              <a:t>Encoder and Scaler 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90D3125-9DF1-D8A3-B97E-6FFCD845CB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25251" y="789192"/>
            <a:ext cx="6796193" cy="38283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8A115A7-3FBE-EEB5-1D64-FDA085B3E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251" y="5519397"/>
            <a:ext cx="7858078" cy="69239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2A28E4A-499A-8AB6-2DC3-665752A12DA9}"/>
              </a:ext>
            </a:extLst>
          </p:cNvPr>
          <p:cNvSpPr txBox="1"/>
          <p:nvPr/>
        </p:nvSpPr>
        <p:spPr>
          <a:xfrm>
            <a:off x="838200" y="4837613"/>
            <a:ext cx="38640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Data </a:t>
            </a:r>
            <a:r>
              <a:rPr lang="en-IN" sz="2400" dirty="0" err="1"/>
              <a:t>Spliting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451703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07003-4FB2-94B4-7AA8-D9B769AE7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1387" y="100985"/>
            <a:ext cx="10515600" cy="461665"/>
          </a:xfrm>
        </p:spPr>
        <p:txBody>
          <a:bodyPr>
            <a:normAutofit/>
          </a:bodyPr>
          <a:lstStyle/>
          <a:p>
            <a:r>
              <a:rPr lang="en-IN" sz="2400" dirty="0"/>
              <a:t>Model Train and Save 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9A6C55A-E1CE-C1E2-84CE-CD7666B3662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1881" y="416144"/>
            <a:ext cx="7328493" cy="52110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8577B2-33E3-08AC-86A3-4DE070BD299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5873" y="-87158"/>
            <a:ext cx="5517126" cy="386407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06F9E8A-91D0-99D1-976E-4100F920513C}"/>
              </a:ext>
            </a:extLst>
          </p:cNvPr>
          <p:cNvSpPr txBox="1"/>
          <p:nvPr/>
        </p:nvSpPr>
        <p:spPr>
          <a:xfrm>
            <a:off x="875073" y="5553987"/>
            <a:ext cx="24875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Model Load: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83BF36-DD71-E482-491D-260285DCB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4254" y="5942399"/>
            <a:ext cx="4338288" cy="814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69370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FE684-567B-37E5-FB15-4379C1045A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2" y="168480"/>
            <a:ext cx="10515600" cy="512557"/>
          </a:xfrm>
        </p:spPr>
        <p:txBody>
          <a:bodyPr>
            <a:normAutofit/>
          </a:bodyPr>
          <a:lstStyle/>
          <a:p>
            <a:r>
              <a:rPr lang="en-IN" sz="2400" dirty="0"/>
              <a:t>New Data prediction :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061202E-BA3C-4968-7DD0-8DB7643BD5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4839" y="681038"/>
            <a:ext cx="8622890" cy="6008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51458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037D7-4345-2019-EC60-6F778980F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9374" y="247137"/>
            <a:ext cx="10515600" cy="460785"/>
          </a:xfrm>
        </p:spPr>
        <p:txBody>
          <a:bodyPr>
            <a:normAutofit/>
          </a:bodyPr>
          <a:lstStyle/>
          <a:p>
            <a:r>
              <a:rPr lang="en-IN" sz="2400" dirty="0"/>
              <a:t>New Input :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7A14140-B050-AAFB-81FE-A16D4BBB4BD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93016" y="845574"/>
            <a:ext cx="6031783" cy="4049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04BF3BA-F70B-5F25-88CA-CD9EBBC5CFA6}"/>
              </a:ext>
            </a:extLst>
          </p:cNvPr>
          <p:cNvSpPr txBox="1"/>
          <p:nvPr/>
        </p:nvSpPr>
        <p:spPr>
          <a:xfrm>
            <a:off x="978616" y="5230761"/>
            <a:ext cx="1828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Output :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AC300D1-A049-A470-D8CE-5876CC3DF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9222" y="5909547"/>
            <a:ext cx="9102803" cy="460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4135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1AB66-5A46-1DA1-2C89-79222BC00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Conclusion 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276439-B771-85CF-9C5D-6CE447A10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2040" y="1500505"/>
            <a:ext cx="10515600" cy="4351338"/>
          </a:xfrm>
        </p:spPr>
        <p:txBody>
          <a:bodyPr>
            <a:normAutofit/>
          </a:bodyPr>
          <a:lstStyle/>
          <a:p>
            <a:pPr lvl="1"/>
            <a:r>
              <a:rPr lang="en-IN" dirty="0"/>
              <a:t>Developed a KNN-based model to predict student depression risk.</a:t>
            </a:r>
          </a:p>
          <a:p>
            <a:pPr lvl="1"/>
            <a:r>
              <a:rPr lang="en-IN" dirty="0"/>
              <a:t> Built an interactive Power BI dashboard for mental health analysis. </a:t>
            </a:r>
          </a:p>
          <a:p>
            <a:pPr lvl="1"/>
            <a:r>
              <a:rPr lang="en-IN" dirty="0"/>
              <a:t>Identified key factors influencing depression, including academic pressure, financial stress, sleep patterns, and suicidal thoughts.</a:t>
            </a:r>
          </a:p>
          <a:p>
            <a:pPr lvl="1"/>
            <a:r>
              <a:rPr lang="en-IN" dirty="0"/>
              <a:t> Enabled data-driven insights for early intervention and student support. </a:t>
            </a:r>
          </a:p>
          <a:p>
            <a:pPr lvl="1"/>
            <a:r>
              <a:rPr lang="en-IN" dirty="0"/>
              <a:t>Demonstrated the practical use of Data Science and Analytics in mental health monitoring.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80523F-987B-B0A6-6515-BA00CB100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6324" y="4836332"/>
            <a:ext cx="678425" cy="6463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9D5BB92-C8D9-5604-A170-0D2934AAEC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9033" y="4764290"/>
            <a:ext cx="1326821" cy="83714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7050B9-92EB-E5DC-AC4E-414CDEFF406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1105" y="4474811"/>
            <a:ext cx="2297616" cy="100784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A89D66D-3362-A6F2-DF69-AB325D3305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21481" y="4686958"/>
            <a:ext cx="914479" cy="795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9465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DB7DF-D673-EB53-5ED3-00C818C5A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31338A5-DF95-D26D-3AC3-6C76ACC681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-24433"/>
            <a:ext cx="12192000" cy="6882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8505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</TotalTime>
  <Words>641</Words>
  <Application>Microsoft Office PowerPoint</Application>
  <PresentationFormat>Widescreen</PresentationFormat>
  <Paragraphs>78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Early Warning System for Academic Depression Using Data Science &amp; Analytics</vt:lpstr>
      <vt:lpstr>CORE COMPETENCIES LEARNED DURING INTERNSHIP :                               Microsoft Excel    </vt:lpstr>
      <vt:lpstr>        Structured Query Language (SQL) : MYSQL</vt:lpstr>
      <vt:lpstr>           Python Programming :</vt:lpstr>
      <vt:lpstr>          Microsoft Power BI :</vt:lpstr>
      <vt:lpstr>Visualizatiion : Power BI</vt:lpstr>
      <vt:lpstr>EARLY WARNING SYSTEM FOR ACADEMIC DEPRESSION USING DATA SCIENCE &amp; ANALYTICS</vt:lpstr>
      <vt:lpstr>Data cleaning Process :</vt:lpstr>
      <vt:lpstr>Encoder and Scaler :</vt:lpstr>
      <vt:lpstr>Model Train and Save :</vt:lpstr>
      <vt:lpstr>New Data prediction :</vt:lpstr>
      <vt:lpstr>New Input : </vt:lpstr>
      <vt:lpstr>Conclusion :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massmathavan84@outlook.com</dc:creator>
  <cp:lastModifiedBy>massmathavan84@outlook.com</cp:lastModifiedBy>
  <cp:revision>3</cp:revision>
  <dcterms:created xsi:type="dcterms:W3CDTF">2026-06-12T12:01:31Z</dcterms:created>
  <dcterms:modified xsi:type="dcterms:W3CDTF">2026-06-12T13:06:10Z</dcterms:modified>
</cp:coreProperties>
</file>